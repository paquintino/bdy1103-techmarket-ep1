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1. Caso y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Explique la necesidad de TechMarket SpA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Contexto del negocio: </a:t>
            </a:r>
            <a:r>
              <a:rPr sz="1300" b="0">
                <a:solidFill>
                  <a:srgbClr val="464646"/>
                </a:solidFill>
                <a:latin typeface="Arial"/>
              </a:rPr>
              <a:t>retail tecnológico con 3 sucursales (Providencia, Cerrillos y Viña del Mar) que registra ventas por cliente y sucursal.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Problema principal: </a:t>
            </a:r>
            <a:r>
              <a:rPr sz="1300" b="0">
                <a:solidFill>
                  <a:srgbClr val="464646"/>
                </a:solidFill>
                <a:latin typeface="Arial"/>
              </a:rPr>
              <a:t>no existe un proceso automático que consolide las compras de cada cliente por sucursal y período, lo clasifique y le asigne un beneficio.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Impacto esperado: </a:t>
            </a:r>
            <a:r>
              <a:rPr sz="1300" b="0">
                <a:solidFill>
                  <a:srgbClr val="464646"/>
                </a:solidFill>
                <a:latin typeface="Arial"/>
              </a:rPr>
              <a:t>categoría (BRONZE a PLATINUM) y % de beneficio calculados en la base de datos, guardados en una bitácora y auditados.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Tomás Salas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Arial"/>
              </a:rPr>
              <a:t>Reglas de negocio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2194560"/>
          <a:ext cx="4983480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256032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Compras acumuladas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Beneficio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BRONZE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Menos de $300.000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SILVER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$300.000 a $699.999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$700.000 a $1.499.999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PLATINUM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$1.500.000 o más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64646"/>
                </a:solidFill>
                <a:latin typeface="Arial"/>
              </a:rPr>
              <a:t>Equipo: Danyer Córdoba · Max Herrera · Pablo Quintino · Tomás Salas   |   Sección 008D   |   Docente: Leonel Octavio Garay Burgos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2. 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Muestre el diagrama y lea las relaciones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69480" y="4343400"/>
            <a:ext cx="42976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200" b="1">
                <a:solidFill>
                  <a:srgbClr val="1F1F1F"/>
                </a:solidFill>
                <a:latin typeface="Arial"/>
              </a:rPr>
              <a:t>Claves que usa el proceso: </a:t>
            </a:r>
            <a:r>
              <a:rPr sz="1200" b="0">
                <a:solidFill>
                  <a:srgbClr val="464646"/>
                </a:solidFill>
                <a:latin typeface="Arial"/>
              </a:rPr>
              <a:t>VENTA.id_cliente → CLIENTE y VENTA.id_sucursal → SUCURSAL (FK). Índice idx_venta_sucursal_fecha acelera el filtro del cursor.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783080"/>
            <a:ext cx="42976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200" b="1">
                <a:solidFill>
                  <a:srgbClr val="1F1F1F"/>
                </a:solidFill>
                <a:latin typeface="Arial"/>
              </a:rPr>
              <a:t>Tablas críticas: </a:t>
            </a:r>
            <a:r>
              <a:rPr sz="1200" b="0">
                <a:solidFill>
                  <a:srgbClr val="464646"/>
                </a:solidFill>
                <a:latin typeface="Arial"/>
              </a:rPr>
              <a:t>CLIENTE, VENTA, DETALLE_VENTA, PRODUCTO, SUCURSAL + BITACORA_BENEFICIOS (resultado).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9480" y="3063240"/>
            <a:ext cx="42976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200" b="1">
                <a:solidFill>
                  <a:srgbClr val="1F1F1F"/>
                </a:solidFill>
                <a:latin typeface="Arial"/>
              </a:rPr>
              <a:t>Relación maestro-detalle que usaré: </a:t>
            </a:r>
            <a:r>
              <a:rPr sz="1200" b="0">
                <a:solidFill>
                  <a:srgbClr val="464646"/>
                </a:solidFill>
                <a:latin typeface="Arial"/>
              </a:rPr>
              <a:t>CLIENTE (maestro) → VENTA (detalle), filtrada por sucursal y período. Cada VENTA es a su vez maestro de DETALLE_VENTA.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Tomás Salas</a:t>
            </a:r>
          </a:p>
        </p:txBody>
      </p:sp>
      <p:pic>
        <p:nvPicPr>
          <p:cNvPr id="9" name="Picture 8" descr="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400800" cy="3698459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5778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Diagrama relacional entregado por el docente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3. Información a generar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Conecte datos con decisión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270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Resultado esperado: </a:t>
            </a:r>
            <a:r>
              <a:rPr sz="1300" b="0">
                <a:solidFill>
                  <a:srgbClr val="464646"/>
                </a:solidFill>
                <a:latin typeface="Arial"/>
              </a:rPr>
              <a:t>resumen por cliente/sucursal/período con cantidad de compras, total comprado, categoría y % de beneficio.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109270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Datos de entrada: </a:t>
            </a:r>
            <a:r>
              <a:rPr sz="1300" b="0">
                <a:solidFill>
                  <a:srgbClr val="464646"/>
                </a:solidFill>
                <a:latin typeface="Arial"/>
              </a:rPr>
              <a:t>sucursal + fecha desde / fecha hasta, aplicados sobre VENTA, CLIENTE y SUCURSAL.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Salida o reporte: </a:t>
            </a:r>
            <a:r>
              <a:rPr sz="1300" b="0">
                <a:solidFill>
                  <a:srgbClr val="464646"/>
                </a:solidFill>
                <a:latin typeface="Arial"/>
              </a:rPr>
              <a:t>BITACORA_BENEFICIOS (una fila por cliente procesado) y AUDITORIA_BENEFICIOS (quién, cuándo y qué cambió).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Tomás Salas</a:t>
            </a:r>
          </a:p>
        </p:txBody>
      </p:sp>
      <p:pic>
        <p:nvPicPr>
          <p:cNvPr id="9" name="Picture 8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4297680"/>
            <a:ext cx="566518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4. RECORD + VARRAY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Justifique las estructuras compuestas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RECORD creado: </a:t>
            </a:r>
            <a:r>
              <a:rPr sz="1300" b="0">
                <a:solidFill>
                  <a:srgbClr val="464646"/>
                </a:solidFill>
                <a:latin typeface="Arial"/>
              </a:rPr>
              <a:t>cliente_record, la ficha comercial de un cliente. id y nombre usan %TYPE para heredar el tipo de 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Qué representa cada campo: </a:t>
            </a:r>
            <a:r>
              <a:rPr sz="1300" b="0">
                <a:solidFill>
                  <a:srgbClr val="464646"/>
                </a:solidFill>
                <a:latin typeface="Arial"/>
              </a:rPr>
              <a:t>id_cliente y nombre_cliente (quién), cantidad_compras y total_comprado (cuánto), categoria y beneficio (resultado).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VARRAY usado y límite definido: </a:t>
            </a:r>
            <a:r>
              <a:rPr sz="1300" b="0">
                <a:solidFill>
                  <a:srgbClr val="464646"/>
                </a:solidFill>
                <a:latin typeface="Arial"/>
              </a:rPr>
              <a:t>beneficios_varray VARRAY(4) OF NUMBER = (5, 10, 15, 20). Límite 4: una posición por categoría, lista corta y ordenada.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Max Herrera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783080"/>
            <a:ext cx="4983480" cy="23317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TYPE cliente_record IS RECORD (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id_cliente       CLIENTE.ID_CLIENTE%TYPE,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nombre_cliente   CLIENTE.NOMBRE%TYPE,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cantidad_compras NUMBER,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total_comprado   NUMBER,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categoria        VARCHAR2(20),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beneficio        NUMBER );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TYPE beneficios_varray IS VARRAY(4) OF NUMBER;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v_beneficios beneficios_varray :=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beneficios_varray(5, 10, 15, 20);</a:t>
            </a:r>
          </a:p>
        </p:txBody>
      </p:sp>
      <p:pic>
        <p:nvPicPr>
          <p:cNvPr id="10" name="Picture 9" descr="ev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251960"/>
            <a:ext cx="4069080" cy="1404232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29400" y="5715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Salida en OneCompiler (cliente 101)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5. Cursor parametrizado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Explique parámetros y consulta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Parámetros: </a:t>
            </a:r>
            <a:r>
              <a:rPr sz="1300" b="0">
                <a:solidFill>
                  <a:srgbClr val="464646"/>
                </a:solidFill>
                <a:latin typeface="Arial"/>
              </a:rPr>
              <a:t>cur_clientes(p_id_sucursal, p_fecha_desde, p_fecha_hasta) y cur_ventas, que además recibe p_id_cliente.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Qué recupera el cursor: </a:t>
            </a:r>
            <a:r>
              <a:rPr sz="1300" b="0">
                <a:solidFill>
                  <a:srgbClr val="464646"/>
                </a:solidFill>
                <a:latin typeface="Arial"/>
              </a:rPr>
              <a:t>cur_clientes: los clientes distintos que compraron en esa sucursal y período. cur_ventas: las ventas de un cliente en ese filtro.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Por qué necesita parámetros: </a:t>
            </a:r>
            <a:r>
              <a:rPr sz="1300" b="0">
                <a:solidFill>
                  <a:srgbClr val="464646"/>
                </a:solidFill>
                <a:latin typeface="Arial"/>
              </a:rPr>
              <a:t>la misma lógica sirve para cualquier sucursal o período sin reescribir el código: al cambiar la sucursal cambia el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Max Herrera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783080"/>
            <a:ext cx="4983480" cy="23317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CURSOR cur_clientes(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p_id_sucursal NUMBER,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p_fecha_desde DATE,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p_fecha_hasta DATE) IS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SELECT DISTINCT c.id_cliente, c.nombre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FROM cliente c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JOIN venta v ON c.id_cliente = v.id_cliente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WHERE v.id_sucursal = p_id_sucursal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AND v.fecha_venta BETWEEN p_fecha_desde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                        AND p_fecha_hasta</a:t>
            </a:r>
          </a:p>
          <a:p>
            <a:pPr algn="l"/>
            <a:r>
              <a:rPr sz="1100">
                <a:solidFill>
                  <a:srgbClr val="F2F2F2"/>
                </a:solidFill>
                <a:latin typeface="Courier New"/>
              </a:rPr>
              <a:t>  ORDER BY c.id_cliente;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2976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Arial"/>
              </a:rPr>
              <a:t>Mismo cursor, otros parámetros (agosto 2026)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29400" y="4617720"/>
          <a:ext cx="498348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08760"/>
                <a:gridCol w="1828800"/>
                <a:gridCol w="164592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1F1F"/>
                          </a:solidFill>
                          <a:latin typeface="Arial"/>
                        </a:rPr>
                        <a:t>Cliente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1F1F"/>
                          </a:solidFill>
                          <a:latin typeface="Arial"/>
                        </a:rPr>
                        <a:t>Sucursal 10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1F1F"/>
                          </a:solidFill>
                          <a:latin typeface="Arial"/>
                        </a:rPr>
                        <a:t>Sucursal 20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101 Ana Torres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$1.339.950 · GOLD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$109.990 · BRONZE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102 Pedro Diaz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$759.960 · GOLD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103 Maria Soto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$219.980 · BRONZE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$319.970 · SILVER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104 Carlos Rojas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$1.599.800 · PLATINUM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6. Loops y 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Explique el recorrido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LOOP externo recorre: </a:t>
            </a:r>
            <a:r>
              <a:rPr sz="1300" b="0">
                <a:solidFill>
                  <a:srgbClr val="464646"/>
                </a:solidFill>
                <a:latin typeface="Arial"/>
              </a:rPr>
              <a:t>cur_clientes, un cliente por iteración. Reinicia los acumuladores y al final informa total, categoría y beneficio.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LOOP interno recorre: </a:t>
            </a:r>
            <a:r>
              <a:rPr sz="1300" b="0">
                <a:solidFill>
                  <a:srgbClr val="464646"/>
                </a:solidFill>
                <a:latin typeface="Arial"/>
              </a:rPr>
              <a:t>cur_ventas(cliente.id_cliente, …): cada venta de ese cliente en la sucursal y período. Muestra la venta y acumula.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Cálculo realizado: </a:t>
            </a:r>
            <a:r>
              <a:rPr sz="1300" b="0">
                <a:solidFill>
                  <a:srgbClr val="464646"/>
                </a:solidFill>
                <a:latin typeface="Arial"/>
              </a:rPr>
              <a:t>cantidad de compras, total comprado, categoría y % de beneficio (con calcular_categoria y calcular_beneficio).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Max Herrera</a:t>
            </a:r>
          </a:p>
        </p:txBody>
      </p:sp>
      <p:pic>
        <p:nvPicPr>
          <p:cNvPr id="9" name="Picture 8" descr="ev_cu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343400" cy="1750135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629400" y="36118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Salida del LOOP anidado · sucursal 10, agosto 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29400" y="4023360"/>
          <a:ext cx="4983480" cy="1508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822960"/>
                <a:gridCol w="1188720"/>
                <a:gridCol w="14173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Cliente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101 Ana Torres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$1.339.950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GOLD 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102 Pedro Diaz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$759.960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GOLD 15%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103 Maria Soto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$219.980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BRONZE 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104 Carlos Rojas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$1.599.800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PLATINUM 20%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7. Excepciones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Demuestre robustez del bloque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Excepción Oracle usada: </a:t>
            </a:r>
            <a:r>
              <a:rPr sz="1300" b="0">
                <a:solidFill>
                  <a:srgbClr val="464646"/>
                </a:solidFill>
                <a:latin typeface="Arial"/>
              </a:rPr>
              <a:t>NO_DATA_FOUND, lanzada por SELECT … INTO cuando se consulta la sucursal 999, que no existe.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Excepción de usuario creada: </a:t>
            </a:r>
            <a:r>
              <a:rPr sz="1300" b="0">
                <a:solidFill>
                  <a:srgbClr val="464646"/>
                </a:solidFill>
                <a:latin typeface="Arial"/>
              </a:rPr>
              <a:t>ex_periodo_invalido (fecha inicio &gt; fecha fin) y ex_sin_ventas (sucursal sin ventas), disparadas con RAISE.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Evidencia de caso normal y caso de error: </a:t>
            </a:r>
            <a:r>
              <a:rPr sz="1300" b="0">
                <a:solidFill>
                  <a:srgbClr val="464646"/>
                </a:solidFill>
                <a:latin typeface="Arial"/>
              </a:rPr>
              <a:t>P1 procesa la sucursal 10 sin errores; P2 a P4 muestran mensajes claros y WHEN OTHERS cubre lo imprevisto.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Danyer Córdoba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783080"/>
          <a:ext cx="498348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2148840"/>
                <a:gridCol w="210312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Prueba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Sucursal 10, agosto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Normal: 4 registros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Sucursal 999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NO_DATA_FOUND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31-08 → 01-08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ex_periodo_invalido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Sucursal 20, septiembre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ex_sin_ventas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58efd5d8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749039"/>
            <a:ext cx="4983480" cy="1398186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29400" y="52578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Salida real de P2, P3, P4 y P1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8. Procedure +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Evalúe reutilización y claridad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Procedure propuesta/implementada: </a:t>
            </a:r>
            <a:r>
              <a:rPr sz="1300" b="0">
                <a:solidFill>
                  <a:srgbClr val="464646"/>
                </a:solidFill>
                <a:latin typeface="Arial"/>
              </a:rPr>
              <a:t>procesar_beneficios(p_id_sucursal, p_fecha_desde, p_fecha_hasta): recorre los clientes, calcula y graba en la bitácora.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Function propuesta/implementada: </a:t>
            </a:r>
            <a:r>
              <a:rPr sz="1300" b="0">
                <a:solidFill>
                  <a:srgbClr val="464646"/>
                </a:solidFill>
                <a:latin typeface="Arial"/>
              </a:rPr>
              <a:t>calcular_categoria y calcular_beneficio(p_total_comprado): una sola fuente para las reglas de negocio.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Valor que retorna la función: </a:t>
            </a:r>
            <a:r>
              <a:rPr sz="1300" b="0">
                <a:solidFill>
                  <a:srgbClr val="464646"/>
                </a:solidFill>
                <a:latin typeface="Arial"/>
              </a:rPr>
              <a:t>VARCHAR2 'BRONZE' / 'SILVER' / 'GOLD' / 'PLATINUM' y NUMBER 5 / 10 / 15 / 20 (%).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Pablo Quintino</a:t>
            </a:r>
          </a:p>
        </p:txBody>
      </p:sp>
      <p:pic>
        <p:nvPicPr>
          <p:cNvPr id="9" name="Picture 8" descr="2713f9bf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025867" cy="3703320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629400" y="55778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calcular_categoria probada en los límites de cada tramo (SQL Developer)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9. Package +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Explique solución integral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Package propuesto/implementado: </a:t>
            </a:r>
            <a:r>
              <a:rPr sz="1300" b="0">
                <a:solidFill>
                  <a:srgbClr val="464646"/>
                </a:solidFill>
                <a:latin typeface="Arial"/>
              </a:rPr>
              <a:t>techmarket_beneficios: especificación + cuerpo que agrupan las 2 funciones y el procedure. P1 lo invoca.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Trigger propuesto/implementado: </a:t>
            </a:r>
            <a:r>
              <a:rPr sz="1300" b="0">
                <a:solidFill>
                  <a:srgbClr val="464646"/>
                </a:solidFill>
                <a:latin typeface="Arial"/>
              </a:rPr>
              <a:t>trg_auditoria_beneficios, AFTER INSERT OR UPDATE FOR EACH ROW: guarda :OLD, :NEW, USER y SYSDATE.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Cómo se relacionan con la solución: </a:t>
            </a:r>
            <a:r>
              <a:rPr sz="1300" b="0">
                <a:solidFill>
                  <a:srgbClr val="464646"/>
                </a:solidFill>
                <a:latin typeface="Arial"/>
              </a:rPr>
              <a:t>el package procesa y escribe en la bitácora; el trigger audita cada cambio automáticamente, sin depender de quién lo hizo.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Pablo Quintino (package) y Danyer Córdoba (trigger)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783080"/>
            <a:ext cx="2240280" cy="777240"/>
          </a:xfrm>
          <a:prstGeom prst="roundRect">
            <a:avLst/>
          </a:prstGeom>
          <a:solidFill>
            <a:srgbClr val="FFB81C"/>
          </a:solidFill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F1F"/>
                </a:solidFill>
                <a:latin typeface="Arial"/>
              </a:rPr>
              <a:t>Package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techmarket_beneficios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783080"/>
            <a:ext cx="2240280" cy="77724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F1F"/>
                </a:solidFill>
                <a:latin typeface="Arial"/>
              </a:rPr>
              <a:t>BITACORA_BENEFICIOS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INSERT por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2971800"/>
            <a:ext cx="2240280" cy="777240"/>
          </a:xfrm>
          <a:prstGeom prst="roundRect">
            <a:avLst/>
          </a:prstGeom>
          <a:solidFill>
            <a:srgbClr val="FFB81C"/>
          </a:solidFill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F1F"/>
                </a:solidFill>
                <a:latin typeface="Arial"/>
              </a:rPr>
              <a:t>Trigger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trg_auditoria_beneficios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71800"/>
            <a:ext cx="2240280" cy="777240"/>
          </a:xfrm>
          <a:prstGeom prst="roundRect">
            <a:avLst/>
          </a:prstGeom>
          <a:solidFill>
            <a:srgbClr val="F5F5F5"/>
          </a:solidFill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F1F1F"/>
                </a:solidFill>
                <a:latin typeface="Arial"/>
              </a:rPr>
              <a:t>AUDITORIA_BENEFICIOS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operación, usuario, fecha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2171700"/>
            <a:ext cx="502920" cy="0"/>
          </a:xfrm>
          <a:prstGeom prst="line">
            <a:avLst/>
          </a:prstGeom>
          <a:ln w="22225">
            <a:solidFill>
              <a:srgbClr val="464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92740" y="2560320"/>
            <a:ext cx="0" cy="411480"/>
          </a:xfrm>
          <a:prstGeom prst="line">
            <a:avLst/>
          </a:prstGeom>
          <a:ln w="22225">
            <a:solidFill>
              <a:srgbClr val="464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869680" y="3360420"/>
            <a:ext cx="502920" cy="0"/>
          </a:xfrm>
          <a:prstGeom prst="line">
            <a:avLst/>
          </a:prstGeom>
          <a:ln w="22225">
            <a:solidFill>
              <a:srgbClr val="464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ev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206240"/>
            <a:ext cx="4983480" cy="687377"/>
          </a:xfrm>
          <a:prstGeom prst="rect">
            <a:avLst/>
          </a:prstGeom>
          <a:ln w="9525">
            <a:solidFill>
              <a:srgbClr val="BEBEBE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629400" y="49834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64646"/>
                </a:solidFill>
                <a:latin typeface="Arial"/>
              </a:rPr>
              <a:t>Salida real: el trigger se dispara por cada una de las 4 inserciones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10. Resultado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887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  <a:latin typeface="Arial"/>
              </a:defRPr>
            </a:pPr>
            <a:r>
              <a:t>Cierre con evidencia y reflexión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Resultado logrado: </a:t>
            </a:r>
            <a:r>
              <a:rPr sz="1300" b="0">
                <a:solidFill>
                  <a:srgbClr val="464646"/>
                </a:solidFill>
                <a:latin typeface="Arial"/>
              </a:rPr>
              <a:t>sucursal 10, agosto 2026: 4 clientes clasificados y guardados en la bitácora, cada uno con su registro de auditoría.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Limitaciones detectadas: </a:t>
            </a:r>
            <a:r>
              <a:rPr sz="1300" b="0">
                <a:solidFill>
                  <a:srgbClr val="464646"/>
                </a:solidFill>
                <a:latin typeface="Arial"/>
              </a:rPr>
              <a:t>el VARRAY solo muestra los %; funciones duplicadas fuera y dentro del package; re-ejecutar duplica la bitácora.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5669280" cy="1143000"/>
          </a:xfrm>
          <a:prstGeom prst="rect">
            <a:avLst/>
          </a:prstGeom>
          <a:solidFill>
            <a:srgbClr val="F5F5F5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 tIns="54864" bIns="54864"/>
          <a:lstStyle/>
          <a:p>
            <a:pPr algn="l">
              <a:defRPr sz="1600">
                <a:solidFill>
                  <a:srgbClr val="464646"/>
                </a:solidFill>
                <a:latin typeface="Arial"/>
              </a:defRPr>
            </a:pPr>
            <a:r>
              <a:rPr sz="1300" b="1">
                <a:solidFill>
                  <a:srgbClr val="1F1F1F"/>
                </a:solidFill>
                <a:latin typeface="Arial"/>
              </a:rPr>
              <a:t>Mejora futura: </a:t>
            </a:r>
            <a:r>
              <a:rPr sz="1300" b="0">
                <a:solidFill>
                  <a:srgbClr val="464646"/>
                </a:solidFill>
                <a:latin typeface="Arial"/>
              </a:rPr>
              <a:t>usar el VARRAY como fuente del %, dejar todo en el package y agregar validaciones, control de duplicados y ROLLBACK.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"/>
            <a:ext cx="530352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/>
            <a:r>
              <a:rPr sz="1200" b="1">
                <a:solidFill>
                  <a:srgbClr val="1F1F1F"/>
                </a:solidFill>
                <a:latin typeface="Arial"/>
              </a:rPr>
              <a:t>Presenta: Tomás Salas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64646"/>
                </a:solidFill>
                <a:latin typeface="Arial"/>
              </a:rPr>
              <a:t>clientes procesados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514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64646"/>
                </a:solidFill>
                <a:latin typeface="Arial"/>
              </a:rPr>
              <a:t>registros de 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7830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51460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64646"/>
                </a:solidFill>
                <a:latin typeface="Arial"/>
              </a:rPr>
              <a:t>pruebas P1 a P4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629400" y="3291840"/>
          <a:ext cx="49834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1280160"/>
                <a:gridCol w="1325880"/>
                <a:gridCol w="685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Cliente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FB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101 Ana Torres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$1.339.950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102 Pedro Diaz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$759.960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103 Maria Soto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$219.980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BRONZE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104 Carlos Rojas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$1.599.800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PLATINUM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